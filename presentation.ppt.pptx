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8" d="100"/>
          <a:sy n="48" d="100"/>
        </p:scale>
        <p:origin x="53" y="7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C1B09D-3613-40C1-B82C-40BEDEAAB8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41AFBB0-A331-485C-9877-778553B17B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D320CB-18EA-48E1-B444-31A326A2F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3BA5D-CAAC-450B-AB43-06715281F5D9}" type="datetimeFigureOut">
              <a:rPr lang="en-IN" smtClean="0"/>
              <a:t>06-06-2026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B21CCA-3093-4276-A776-4BF7946B3C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78D199-DF28-4256-9B56-E8B9C32319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11279-63C1-46CD-9C9E-0B4BC3D571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91579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6551F5-E221-4959-9D09-B1323D60E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C402BF-E440-47CF-882F-FA18483394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FB0AB0-86D4-4BE5-AC63-BB673082B2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3BA5D-CAAC-450B-AB43-06715281F5D9}" type="datetimeFigureOut">
              <a:rPr lang="en-IN" smtClean="0"/>
              <a:t>06-06-2026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D1DC29-4AC2-4961-941D-FC49F9C82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306FA1-FFDC-4A72-8751-1B5837368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11279-63C1-46CD-9C9E-0B4BC3D571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00381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E58D74-BBE4-414F-8E46-9605347EDD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367C21-A668-49E2-BF16-5D1DA26483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1F9120-8842-4F9A-B42D-71371CFE86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3BA5D-CAAC-450B-AB43-06715281F5D9}" type="datetimeFigureOut">
              <a:rPr lang="en-IN" smtClean="0"/>
              <a:t>06-06-2026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1D0884-60EA-4A86-8A0C-E42FFD1FF5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87ED0D-AE65-4A6F-92AC-18B69B827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11279-63C1-46CD-9C9E-0B4BC3D571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11264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D1C604-0F3E-4D43-B785-3EDD32A235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B922A3-677E-4131-B9B1-A8217BB1EB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6D9E35-CAC4-43BB-AA7F-032F6114A0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5B9289-26F8-435D-8894-1352F1826D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3BA5D-CAAC-450B-AB43-06715281F5D9}" type="datetimeFigureOut">
              <a:rPr lang="en-IN" smtClean="0"/>
              <a:t>06-06-2026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2E0C8C-07A9-48C8-A4A5-ED69B137CC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8B446D-F595-44E0-8F3D-409D29365E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11279-63C1-46CD-9C9E-0B4BC3D571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72942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F6CDAD-B151-4ABD-BF71-3ABC50D67F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525635-AE9A-4A43-9F85-936A6580C6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D90C0E-58C7-41AB-8CA8-90EDEF9504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FDD05FB-AB78-4850-8753-A675E94E62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19CEB67-558A-4C65-BE7F-61968E43DA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1F2750A-4B58-48CC-9012-06BFBFBAC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3BA5D-CAAC-450B-AB43-06715281F5D9}" type="datetimeFigureOut">
              <a:rPr lang="en-IN" smtClean="0"/>
              <a:t>06-06-2026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DEB1883-CFD8-4D08-9802-5159D92B96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1C15E0F-AB54-4FD2-881B-4CD61D377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11279-63C1-46CD-9C9E-0B4BC3D571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27083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7CAABE-FF26-45E7-806A-7F6456723C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B77C26E-66A0-4777-83FD-24E6DFEC96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3BA5D-CAAC-450B-AB43-06715281F5D9}" type="datetimeFigureOut">
              <a:rPr lang="en-IN" smtClean="0"/>
              <a:t>06-06-2026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E11B54-8114-4682-A598-01A68C8A82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564877-7E5A-4F15-A7F9-04AB136FB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11279-63C1-46CD-9C9E-0B4BC3D571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50924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D2B2ADA-B503-481D-9B39-60B309DF80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3BA5D-CAAC-450B-AB43-06715281F5D9}" type="datetimeFigureOut">
              <a:rPr lang="en-IN" smtClean="0"/>
              <a:t>06-06-2026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A66A14F-DD5B-4088-ABC3-6B7AE8E9A3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E7FD8B-8038-4552-8B03-5E3A1CC907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11279-63C1-46CD-9C9E-0B4BC3D571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96237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B35F62-3983-43A8-9415-C6BA843EC3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BCCFC4-A101-461A-8515-70FAD755BA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9B487C-0CEF-425B-8686-E81BD15301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AE3B4D-C6CD-428E-AAF1-8AF2DBCFEB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3BA5D-CAAC-450B-AB43-06715281F5D9}" type="datetimeFigureOut">
              <a:rPr lang="en-IN" smtClean="0"/>
              <a:t>06-06-2026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A0A325-2D68-4195-B652-CAFB58079E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C64BB2-9E2C-4739-84EF-B7C3360C91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11279-63C1-46CD-9C9E-0B4BC3D571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86552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C1519-9E63-459A-A9A9-D074DF2D5E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06F0495-C3B9-4E9D-AD0A-3AB1F99D9C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35014E-A18F-4F76-8F05-BDE2C36BF7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539636-C977-4D1E-920E-5747E6C0C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3BA5D-CAAC-450B-AB43-06715281F5D9}" type="datetimeFigureOut">
              <a:rPr lang="en-IN" smtClean="0"/>
              <a:t>06-06-2026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3158CC-DAB1-4D33-A1C3-F900825E9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FDB8A6-1394-4B05-8E05-8F85CC2BA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11279-63C1-46CD-9C9E-0B4BC3D571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43365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A4EBDF-D01D-4A51-B3CE-75476FED91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04A925-7376-46F0-80E8-20D4906FE8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55D63D-6D3E-490D-9A65-FA2266912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3BA5D-CAAC-450B-AB43-06715281F5D9}" type="datetimeFigureOut">
              <a:rPr lang="en-IN" smtClean="0"/>
              <a:t>06-06-2026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B8E4FC-ADB1-4485-B445-69735AB4E8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E80B99-EC03-4DC9-A323-EE70AD8B75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11279-63C1-46CD-9C9E-0B4BC3D571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17852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AAF69C5-F444-4890-A527-DFF0F76540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83A7BF-EE29-4531-8513-B6E995FDEE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0D843C-B403-40EF-90E1-82B81811C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3BA5D-CAAC-450B-AB43-06715281F5D9}" type="datetimeFigureOut">
              <a:rPr lang="en-IN" smtClean="0"/>
              <a:t>06-06-2026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CE3F20-2AC0-4BF4-AD1A-AAB24A301A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4125DF-FF68-40A9-8F8E-E159B1577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11279-63C1-46CD-9C9E-0B4BC3D571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72147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175EEDF-9DA4-45B0-AAB7-DD508E50AB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838FCC-F7FD-48CD-84B1-A0758F46DB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62C2C0-6803-4ED5-B33C-F981857424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63BA5D-CAAC-450B-AB43-06715281F5D9}" type="datetimeFigureOut">
              <a:rPr lang="en-IN" smtClean="0"/>
              <a:t>06-06-2026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7D101E-6608-45BE-B452-14694C40BA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293118-C06D-4B8B-A4E0-DE7276B85A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F11279-63C1-46CD-9C9E-0B4BC3D571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9967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79ECE1-36E1-4AF0-88C7-54DA3470BDD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br>
              <a:rPr lang="en-US" sz="4900" dirty="0"/>
            </a:br>
            <a:br>
              <a:rPr lang="en-US" sz="4900" dirty="0"/>
            </a:br>
            <a:br>
              <a:rPr lang="en-US" sz="4900" dirty="0"/>
            </a:br>
            <a:br>
              <a:rPr lang="en-US" sz="4900" dirty="0"/>
            </a:br>
            <a:br>
              <a:rPr lang="en-US" sz="4900" dirty="0"/>
            </a:br>
            <a:br>
              <a:rPr lang="en-US" sz="4900" dirty="0"/>
            </a:br>
            <a:br>
              <a:rPr lang="en-US" sz="4900" dirty="0"/>
            </a:br>
            <a:r>
              <a:rPr lang="en-US" sz="3600" dirty="0"/>
              <a:t>AI-Powered Candidate Discovery &amp; Ranking System</a:t>
            </a:r>
            <a:br>
              <a:rPr lang="en-US" sz="3600" dirty="0"/>
            </a:br>
            <a:r>
              <a:rPr lang="en-US" sz="3600" dirty="0"/>
              <a:t>Data &amp; AI Challenge 2026</a:t>
            </a:r>
            <a:br>
              <a:rPr lang="en-US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648E3C-7A8A-4C16-B4FC-F01F35F4739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Prepared By:</a:t>
            </a:r>
            <a:br>
              <a:rPr lang="en-IN" dirty="0"/>
            </a:br>
            <a:r>
              <a:rPr lang="en-IN" dirty="0"/>
              <a:t>Harini </a:t>
            </a:r>
            <a:r>
              <a:rPr lang="en-IN" dirty="0" err="1"/>
              <a:t>Dasaraju</a:t>
            </a:r>
            <a:endParaRPr lang="en-IN" dirty="0"/>
          </a:p>
          <a:p>
            <a:r>
              <a:rPr lang="en-IN" dirty="0"/>
              <a:t>Technologies:</a:t>
            </a:r>
            <a:br>
              <a:rPr lang="en-IN" dirty="0"/>
            </a:br>
            <a:r>
              <a:rPr lang="en-IN" dirty="0"/>
              <a:t>Python, Sentence Transformers, </a:t>
            </a:r>
            <a:r>
              <a:rPr lang="en-IN" dirty="0" err="1"/>
              <a:t>Scikit</a:t>
            </a:r>
            <a:r>
              <a:rPr lang="en-IN" dirty="0"/>
              <a:t>-Learn, Pandas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668079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B04757-44F5-4064-9BD7-FF2A2FF551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2D09B4-4F3F-484C-9585-ADAC53023F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Traditional hiring systems rely heavily on keyword matching.</a:t>
            </a:r>
          </a:p>
          <a:p>
            <a:pPr marL="0" indent="0">
              <a:buNone/>
            </a:pPr>
            <a:r>
              <a:rPr lang="en-US" dirty="0"/>
              <a:t>Challenges:</a:t>
            </a:r>
          </a:p>
          <a:p>
            <a:pPr marL="0" indent="0">
              <a:buNone/>
            </a:pPr>
            <a:r>
              <a:rPr lang="en-US" dirty="0"/>
              <a:t>• Good candidates are often missed.</a:t>
            </a:r>
            <a:br>
              <a:rPr lang="en-US" dirty="0"/>
            </a:br>
            <a:r>
              <a:rPr lang="en-US" dirty="0"/>
              <a:t>• Keyword filters do not understand context.</a:t>
            </a:r>
            <a:br>
              <a:rPr lang="en-US" dirty="0"/>
            </a:br>
            <a:r>
              <a:rPr lang="en-US" dirty="0"/>
              <a:t>• Recruiters spend significant time manually screening profiles.</a:t>
            </a:r>
          </a:p>
          <a:p>
            <a:pPr marL="0" indent="0">
              <a:buNone/>
            </a:pPr>
            <a:r>
              <a:rPr lang="en-US" dirty="0"/>
              <a:t>Objective:</a:t>
            </a:r>
          </a:p>
          <a:p>
            <a:pPr marL="0" indent="0">
              <a:buNone/>
            </a:pPr>
            <a:r>
              <a:rPr lang="en-US" dirty="0"/>
              <a:t>Build an AI-based ranking system that understands job requirements and recommends the most relevant candidates.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281995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5354B6-627C-4097-A136-E80C1CD291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Dataset Overview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9F9E5E-961D-47B7-9961-0F3AF53B44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dirty="0"/>
              <a:t>Dataset Components:</a:t>
            </a:r>
          </a:p>
          <a:p>
            <a:pPr marL="0" indent="0">
              <a:buNone/>
            </a:pPr>
            <a:r>
              <a:rPr lang="en-IN" dirty="0"/>
              <a:t>• Candidate Profiles</a:t>
            </a:r>
            <a:br>
              <a:rPr lang="en-IN" dirty="0"/>
            </a:br>
            <a:r>
              <a:rPr lang="en-IN" dirty="0"/>
              <a:t>• Career History</a:t>
            </a:r>
            <a:br>
              <a:rPr lang="en-IN" dirty="0"/>
            </a:br>
            <a:r>
              <a:rPr lang="en-IN" dirty="0"/>
              <a:t>• Skills Information</a:t>
            </a:r>
            <a:br>
              <a:rPr lang="en-IN" dirty="0"/>
            </a:br>
            <a:r>
              <a:rPr lang="en-IN" dirty="0"/>
              <a:t>• Education Details</a:t>
            </a:r>
            <a:br>
              <a:rPr lang="en-IN" dirty="0"/>
            </a:br>
            <a:r>
              <a:rPr lang="en-IN" dirty="0"/>
              <a:t>• Certifications</a:t>
            </a:r>
            <a:br>
              <a:rPr lang="en-IN" dirty="0"/>
            </a:br>
            <a:r>
              <a:rPr lang="en-IN" dirty="0"/>
              <a:t>• </a:t>
            </a:r>
            <a:r>
              <a:rPr lang="en-IN" dirty="0" err="1"/>
              <a:t>Redrob</a:t>
            </a:r>
            <a:r>
              <a:rPr lang="en-IN" dirty="0"/>
              <a:t> </a:t>
            </a:r>
            <a:r>
              <a:rPr lang="en-IN" dirty="0" err="1"/>
              <a:t>Behavioral</a:t>
            </a:r>
            <a:r>
              <a:rPr lang="en-IN" dirty="0"/>
              <a:t> Signals</a:t>
            </a:r>
          </a:p>
          <a:p>
            <a:pPr marL="0" indent="0">
              <a:buNone/>
            </a:pPr>
            <a:r>
              <a:rPr lang="en-IN" dirty="0"/>
              <a:t>Total Candidate Records:</a:t>
            </a:r>
            <a:br>
              <a:rPr lang="en-IN" dirty="0"/>
            </a:br>
            <a:r>
              <a:rPr lang="en-IN" dirty="0"/>
              <a:t>~100,000+</a:t>
            </a:r>
          </a:p>
          <a:p>
            <a:pPr marL="0" indent="0">
              <a:buNone/>
            </a:pPr>
            <a:r>
              <a:rPr lang="en-IN" dirty="0"/>
              <a:t>Output:</a:t>
            </a:r>
          </a:p>
          <a:p>
            <a:pPr marL="0" indent="0">
              <a:buNone/>
            </a:pPr>
            <a:r>
              <a:rPr lang="en-IN" dirty="0"/>
              <a:t>Rank candidates according to their suitability for a given job description.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719302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AEF767-CFC6-4103-A40C-ED519947B7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Candidate Schema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2B08AF-71CA-49B8-BC50-39CEF510150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Each candidate contains:</a:t>
            </a:r>
          </a:p>
          <a:p>
            <a:pPr marL="0" indent="0">
              <a:buNone/>
            </a:pPr>
            <a:r>
              <a:rPr lang="en-US" dirty="0"/>
              <a:t>Profile:</a:t>
            </a:r>
            <a:br>
              <a:rPr lang="en-US" dirty="0"/>
            </a:br>
            <a:r>
              <a:rPr lang="en-US" dirty="0"/>
              <a:t>• Headline</a:t>
            </a:r>
            <a:br>
              <a:rPr lang="en-US" dirty="0"/>
            </a:br>
            <a:r>
              <a:rPr lang="en-US" dirty="0"/>
              <a:t>• Summary</a:t>
            </a:r>
            <a:br>
              <a:rPr lang="en-US" dirty="0"/>
            </a:br>
            <a:r>
              <a:rPr lang="en-US" dirty="0"/>
              <a:t>• Current Title</a:t>
            </a:r>
            <a:br>
              <a:rPr lang="en-US" dirty="0"/>
            </a:br>
            <a:r>
              <a:rPr lang="en-US" dirty="0"/>
              <a:t>• Experience</a:t>
            </a:r>
          </a:p>
          <a:p>
            <a:pPr marL="0" indent="0">
              <a:buNone/>
            </a:pPr>
            <a:r>
              <a:rPr lang="en-US" dirty="0"/>
              <a:t>Career History:</a:t>
            </a:r>
            <a:br>
              <a:rPr lang="en-US" dirty="0"/>
            </a:br>
            <a:r>
              <a:rPr lang="en-US" dirty="0"/>
              <a:t>• Previous Roles</a:t>
            </a:r>
            <a:br>
              <a:rPr lang="en-US" dirty="0"/>
            </a:br>
            <a:r>
              <a:rPr lang="en-US" dirty="0"/>
              <a:t>• Responsibilities</a:t>
            </a:r>
            <a:br>
              <a:rPr lang="en-US" dirty="0"/>
            </a:br>
            <a:r>
              <a:rPr lang="en-US" dirty="0"/>
              <a:t>• Achievements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F09BFB-F4C4-4EFF-B8D5-6E7E8EE3B3F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Skills:</a:t>
            </a:r>
            <a:br>
              <a:rPr lang="en-US" dirty="0"/>
            </a:br>
            <a:r>
              <a:rPr lang="en-US" dirty="0"/>
              <a:t>• Skill Name</a:t>
            </a:r>
            <a:br>
              <a:rPr lang="en-US" dirty="0"/>
            </a:br>
            <a:r>
              <a:rPr lang="en-US" dirty="0"/>
              <a:t>• Proficiency</a:t>
            </a:r>
            <a:br>
              <a:rPr lang="en-US" dirty="0"/>
            </a:br>
            <a:r>
              <a:rPr lang="en-US" dirty="0"/>
              <a:t>• Endorsements</a:t>
            </a:r>
          </a:p>
          <a:p>
            <a:pPr marL="0" indent="0">
              <a:buNone/>
            </a:pPr>
            <a:r>
              <a:rPr lang="en-US" dirty="0"/>
              <a:t>Behavioral Signals:</a:t>
            </a:r>
            <a:br>
              <a:rPr lang="en-US" dirty="0"/>
            </a:br>
            <a:r>
              <a:rPr lang="en-US" dirty="0"/>
              <a:t>• Open To Work</a:t>
            </a:r>
            <a:br>
              <a:rPr lang="en-US" dirty="0"/>
            </a:br>
            <a:r>
              <a:rPr lang="en-US" dirty="0"/>
              <a:t>• Recruiter Response Rate</a:t>
            </a:r>
            <a:br>
              <a:rPr lang="en-US" dirty="0"/>
            </a:br>
            <a:r>
              <a:rPr lang="en-US" dirty="0"/>
              <a:t>• GitHub Activity</a:t>
            </a:r>
            <a:br>
              <a:rPr lang="en-US" dirty="0"/>
            </a:br>
            <a:r>
              <a:rPr lang="en-US" dirty="0"/>
              <a:t>• Notice Period</a:t>
            </a:r>
            <a:br>
              <a:rPr lang="en-US" dirty="0"/>
            </a:br>
            <a:r>
              <a:rPr lang="en-US" dirty="0"/>
              <a:t>• Relocation Preference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897492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7E9528-CCE5-4829-8312-D0E28E90E1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Semantic Search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8D7CCE-C63F-4DC3-81AB-0A1C1ECB77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Step 1:</a:t>
            </a:r>
            <a:br>
              <a:rPr lang="en-US" dirty="0"/>
            </a:br>
            <a:r>
              <a:rPr lang="en-US" dirty="0"/>
              <a:t>Convert Job Description into vector embedding.</a:t>
            </a:r>
          </a:p>
          <a:p>
            <a:pPr marL="0" indent="0">
              <a:buNone/>
            </a:pPr>
            <a:r>
              <a:rPr lang="en-US" dirty="0"/>
              <a:t>Step 2:</a:t>
            </a:r>
            <a:br>
              <a:rPr lang="en-US" dirty="0"/>
            </a:br>
            <a:r>
              <a:rPr lang="en-US" dirty="0"/>
              <a:t>Convert Candidate Profile + Career History into vector embeddings.</a:t>
            </a:r>
          </a:p>
          <a:p>
            <a:pPr marL="0" indent="0">
              <a:buNone/>
            </a:pPr>
            <a:r>
              <a:rPr lang="en-US" dirty="0"/>
              <a:t>Step 3:</a:t>
            </a:r>
            <a:br>
              <a:rPr lang="en-US" dirty="0"/>
            </a:br>
            <a:r>
              <a:rPr lang="en-US" dirty="0"/>
              <a:t>Calculate semantic similarity using cosine similarity.</a:t>
            </a:r>
          </a:p>
          <a:p>
            <a:pPr marL="0" indent="0">
              <a:buNone/>
            </a:pPr>
            <a:r>
              <a:rPr lang="en-US" dirty="0"/>
              <a:t>Model Used:</a:t>
            </a:r>
          </a:p>
          <a:p>
            <a:pPr marL="0" indent="0">
              <a:buNone/>
            </a:pPr>
            <a:r>
              <a:rPr lang="en-US" dirty="0"/>
              <a:t>all-MiniLM-L6-v2</a:t>
            </a:r>
          </a:p>
          <a:p>
            <a:pPr marL="0" indent="0">
              <a:buNone/>
            </a:pPr>
            <a:r>
              <a:rPr lang="en-US" dirty="0"/>
              <a:t>Benefit:</a:t>
            </a:r>
          </a:p>
          <a:p>
            <a:pPr marL="0" indent="0">
              <a:buNone/>
            </a:pPr>
            <a:r>
              <a:rPr lang="en-US" dirty="0"/>
              <a:t>Understands meaning rather than exact keyword matching.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787371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A18726-EA04-4BB9-8FB0-7ABBA3373F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Skills Matching Logic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BD8FEB-DE96-4D10-82F8-3102A78BB1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dirty="0"/>
              <a:t>Important AI Skills Considered:</a:t>
            </a:r>
          </a:p>
          <a:p>
            <a:pPr marL="0" indent="0">
              <a:buNone/>
            </a:pPr>
            <a:r>
              <a:rPr lang="en-IN" dirty="0"/>
              <a:t>• Python</a:t>
            </a:r>
            <a:br>
              <a:rPr lang="en-IN" dirty="0"/>
            </a:br>
            <a:r>
              <a:rPr lang="en-IN" dirty="0"/>
              <a:t>• NLP</a:t>
            </a:r>
            <a:br>
              <a:rPr lang="en-IN" dirty="0"/>
            </a:br>
            <a:r>
              <a:rPr lang="en-IN" dirty="0"/>
              <a:t>• LLM</a:t>
            </a:r>
            <a:br>
              <a:rPr lang="en-IN" dirty="0"/>
            </a:br>
            <a:r>
              <a:rPr lang="en-IN" dirty="0"/>
              <a:t>• </a:t>
            </a:r>
            <a:r>
              <a:rPr lang="en-IN" dirty="0" err="1"/>
              <a:t>LoRA</a:t>
            </a:r>
            <a:br>
              <a:rPr lang="en-IN" dirty="0"/>
            </a:br>
            <a:r>
              <a:rPr lang="en-IN" dirty="0"/>
              <a:t>• Retrieval Systems</a:t>
            </a:r>
            <a:br>
              <a:rPr lang="en-IN" dirty="0"/>
            </a:br>
            <a:r>
              <a:rPr lang="en-IN" dirty="0"/>
              <a:t>• Ranking Systems</a:t>
            </a:r>
            <a:br>
              <a:rPr lang="en-IN" dirty="0"/>
            </a:br>
            <a:r>
              <a:rPr lang="en-IN" dirty="0"/>
              <a:t>• Milvus</a:t>
            </a:r>
            <a:br>
              <a:rPr lang="en-IN" dirty="0"/>
            </a:br>
            <a:r>
              <a:rPr lang="en-IN" dirty="0"/>
              <a:t>• Pinecone</a:t>
            </a:r>
            <a:br>
              <a:rPr lang="en-IN" dirty="0"/>
            </a:br>
            <a:r>
              <a:rPr lang="en-IN" dirty="0"/>
              <a:t>• FAISS</a:t>
            </a:r>
            <a:br>
              <a:rPr lang="en-IN" dirty="0"/>
            </a:br>
            <a:r>
              <a:rPr lang="en-IN" dirty="0"/>
              <a:t>• Embeddings</a:t>
            </a:r>
          </a:p>
          <a:p>
            <a:pPr marL="0" indent="0">
              <a:buNone/>
            </a:pPr>
            <a:r>
              <a:rPr lang="en-IN" dirty="0"/>
              <a:t>Skills Score:</a:t>
            </a:r>
          </a:p>
          <a:p>
            <a:pPr marL="0" indent="0">
              <a:buNone/>
            </a:pPr>
            <a:r>
              <a:rPr lang="en-IN" dirty="0"/>
              <a:t>Matched Skills / Total Required Skills</a:t>
            </a:r>
          </a:p>
          <a:p>
            <a:pPr marL="0" indent="0">
              <a:buNone/>
            </a:pPr>
            <a:r>
              <a:rPr lang="en-IN" dirty="0"/>
              <a:t>This rewards candidates possessing relevant AI expertise.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19879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6E2897-DB4D-40E4-B3A2-EC098F2CA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Behavioral</a:t>
            </a:r>
            <a:r>
              <a:rPr lang="en-IN" dirty="0"/>
              <a:t> Signal Scoring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E9B310-51FF-450E-992F-10AFCAEFC4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Behavioral indicators improve ranking quality.</a:t>
            </a:r>
          </a:p>
          <a:p>
            <a:pPr marL="0" indent="0">
              <a:buNone/>
            </a:pPr>
            <a:r>
              <a:rPr lang="en-US" dirty="0"/>
              <a:t>Signals Used:</a:t>
            </a:r>
          </a:p>
          <a:p>
            <a:pPr marL="0" indent="0">
              <a:buNone/>
            </a:pPr>
            <a:r>
              <a:rPr lang="en-US" dirty="0"/>
              <a:t>• Open To Work</a:t>
            </a:r>
            <a:br>
              <a:rPr lang="en-US" dirty="0"/>
            </a:br>
            <a:r>
              <a:rPr lang="en-US" dirty="0"/>
              <a:t>• Recruiter Response Rate</a:t>
            </a:r>
            <a:br>
              <a:rPr lang="en-US" dirty="0"/>
            </a:br>
            <a:r>
              <a:rPr lang="en-US" dirty="0"/>
              <a:t>• GitHub Activity Score</a:t>
            </a:r>
            <a:br>
              <a:rPr lang="en-US" dirty="0"/>
            </a:br>
            <a:r>
              <a:rPr lang="en-US" dirty="0"/>
              <a:t>• Notice Period</a:t>
            </a:r>
            <a:br>
              <a:rPr lang="en-US" dirty="0"/>
            </a:br>
            <a:r>
              <a:rPr lang="en-US" dirty="0"/>
              <a:t>• Willingness To Relocate</a:t>
            </a:r>
          </a:p>
          <a:p>
            <a:pPr marL="0" indent="0">
              <a:buNone/>
            </a:pPr>
            <a:r>
              <a:rPr lang="en-US" dirty="0"/>
              <a:t>Why?</a:t>
            </a:r>
          </a:p>
          <a:p>
            <a:pPr marL="0" indent="0">
              <a:buNone/>
            </a:pPr>
            <a:r>
              <a:rPr lang="en-US" dirty="0"/>
              <a:t>These signals indicate candidate availability, engagement, and hiring readiness.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190205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4BEF71-5020-4213-939C-501D4C527E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Final Ranking Formula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FB1892-C3E8-44B8-A997-463E76506A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Final Score =</a:t>
            </a:r>
          </a:p>
          <a:p>
            <a:pPr marL="0" indent="0">
              <a:buNone/>
            </a:pPr>
            <a:r>
              <a:rPr lang="en-US" dirty="0"/>
              <a:t>50% Semantic Match +</a:t>
            </a:r>
            <a:br>
              <a:rPr lang="en-US" dirty="0"/>
            </a:br>
            <a:r>
              <a:rPr lang="en-US" dirty="0"/>
              <a:t>20% Skills Match +</a:t>
            </a:r>
            <a:br>
              <a:rPr lang="en-US" dirty="0"/>
            </a:br>
            <a:r>
              <a:rPr lang="en-US" dirty="0"/>
              <a:t>15% Experience Match +</a:t>
            </a:r>
            <a:br>
              <a:rPr lang="en-US" dirty="0"/>
            </a:br>
            <a:r>
              <a:rPr lang="en-US" dirty="0"/>
              <a:t>15% Behavioral Score</a:t>
            </a:r>
          </a:p>
          <a:p>
            <a:pPr marL="0" indent="0">
              <a:buNone/>
            </a:pPr>
            <a:r>
              <a:rPr lang="en-US" dirty="0"/>
              <a:t>Benefits:</a:t>
            </a:r>
          </a:p>
          <a:p>
            <a:pPr marL="0" indent="0">
              <a:buNone/>
            </a:pPr>
            <a:r>
              <a:rPr lang="en-US" dirty="0"/>
              <a:t>• Context-aware ranking</a:t>
            </a:r>
            <a:br>
              <a:rPr lang="en-US" dirty="0"/>
            </a:br>
            <a:r>
              <a:rPr lang="en-US" dirty="0"/>
              <a:t>• Skills-based evaluation</a:t>
            </a:r>
            <a:br>
              <a:rPr lang="en-US" dirty="0"/>
            </a:br>
            <a:r>
              <a:rPr lang="en-US" dirty="0"/>
              <a:t>• Recruiter-friendly recommendations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507542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08B3DE-8211-48A5-8A4E-EE772945E8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Results &amp; Top Candidates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09C9D8-72AD-4908-B3C0-726B2B18CA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Example Top Ranked Candidates</a:t>
            </a:r>
          </a:p>
          <a:p>
            <a:pPr marL="0" indent="0">
              <a:buNone/>
            </a:pPr>
            <a:r>
              <a:rPr lang="en-US" dirty="0"/>
              <a:t>CAND_0011162 – Score: 0.6727</a:t>
            </a:r>
          </a:p>
          <a:p>
            <a:pPr marL="0" indent="0">
              <a:buNone/>
            </a:pPr>
            <a:r>
              <a:rPr lang="en-US" dirty="0"/>
              <a:t>CAND_0000031 – Score: 0.6513</a:t>
            </a:r>
          </a:p>
          <a:p>
            <a:pPr marL="0" indent="0">
              <a:buNone/>
            </a:pPr>
            <a:r>
              <a:rPr lang="en-US" dirty="0"/>
              <a:t>CAND_0018499 – Score: 0.6472</a:t>
            </a:r>
          </a:p>
          <a:p>
            <a:pPr marL="0" indent="0">
              <a:buNone/>
            </a:pPr>
            <a:r>
              <a:rPr lang="en-US" dirty="0"/>
              <a:t>CAND_0002025 – Score: 0.6445</a:t>
            </a:r>
          </a:p>
          <a:p>
            <a:pPr marL="0" indent="0">
              <a:buNone/>
            </a:pPr>
            <a:r>
              <a:rPr lang="en-US" dirty="0"/>
              <a:t>CAND_0018549 – Score: 0.6225</a:t>
            </a:r>
          </a:p>
          <a:p>
            <a:pPr marL="0" indent="0">
              <a:buNone/>
            </a:pPr>
            <a:r>
              <a:rPr lang="en-US" dirty="0"/>
              <a:t>Generated Outputs:</a:t>
            </a:r>
          </a:p>
          <a:p>
            <a:pPr marL="0" indent="0">
              <a:buNone/>
            </a:pPr>
            <a:r>
              <a:rPr lang="en-US" dirty="0"/>
              <a:t>• ranked_candidates.csv</a:t>
            </a:r>
            <a:br>
              <a:rPr lang="en-US" dirty="0"/>
            </a:br>
            <a:r>
              <a:rPr lang="en-US" dirty="0"/>
              <a:t>• sample_submission.csv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109784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60F8C-4C53-4F07-8642-E0D615751C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Future Improvements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98509B-C7B9-4E02-96F6-16BE8A5E52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dirty="0"/>
              <a:t>Future Enhancements:</a:t>
            </a:r>
          </a:p>
          <a:p>
            <a:pPr marL="0" indent="0">
              <a:buNone/>
            </a:pPr>
            <a:r>
              <a:rPr lang="en-IN" dirty="0"/>
              <a:t>• Cross-Encoder Re-ranking</a:t>
            </a:r>
            <a:br>
              <a:rPr lang="en-IN" dirty="0"/>
            </a:br>
            <a:r>
              <a:rPr lang="en-IN" dirty="0"/>
              <a:t>• Large Language Model Evaluation</a:t>
            </a:r>
            <a:br>
              <a:rPr lang="en-IN" dirty="0"/>
            </a:br>
            <a:r>
              <a:rPr lang="en-IN" dirty="0"/>
              <a:t>• Dynamic Skill Extraction</a:t>
            </a:r>
            <a:br>
              <a:rPr lang="en-IN" dirty="0"/>
            </a:br>
            <a:r>
              <a:rPr lang="en-IN" dirty="0"/>
              <a:t>• Vector Database Integration</a:t>
            </a:r>
            <a:br>
              <a:rPr lang="en-IN" dirty="0"/>
            </a:br>
            <a:r>
              <a:rPr lang="en-IN" dirty="0"/>
              <a:t>• Real-Time Recruiter Feedback Loop</a:t>
            </a:r>
            <a:br>
              <a:rPr lang="en-IN" dirty="0"/>
            </a:br>
            <a:r>
              <a:rPr lang="en-IN" dirty="0"/>
              <a:t>• Personalized Candidate Recommendations</a:t>
            </a:r>
          </a:p>
          <a:p>
            <a:pPr marL="0" indent="0">
              <a:buNone/>
            </a:pPr>
            <a:r>
              <a:rPr lang="en-IN" dirty="0"/>
              <a:t>Impact:</a:t>
            </a:r>
          </a:p>
          <a:p>
            <a:pPr marL="0" indent="0">
              <a:buNone/>
            </a:pPr>
            <a:r>
              <a:rPr lang="en-IN" dirty="0"/>
              <a:t>More accurate, explainable, and scalable hiring decisions.</a:t>
            </a:r>
          </a:p>
          <a:p>
            <a:pPr marL="0" indent="0">
              <a:buNone/>
            </a:pPr>
            <a:r>
              <a:rPr lang="en-IN" dirty="0"/>
              <a:t>Thank You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282841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523</Words>
  <Application>Microsoft Office PowerPoint</Application>
  <PresentationFormat>Widescreen</PresentationFormat>
  <Paragraphs>61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       AI-Powered Candidate Discovery &amp; Ranking System Data &amp; AI Challenge 2026 </vt:lpstr>
      <vt:lpstr>Problem Statement</vt:lpstr>
      <vt:lpstr>Dataset Overview </vt:lpstr>
      <vt:lpstr>Candidate Schema</vt:lpstr>
      <vt:lpstr>Semantic Search Architecture</vt:lpstr>
      <vt:lpstr>Skills Matching Logic</vt:lpstr>
      <vt:lpstr>Behavioral Signal Scoring</vt:lpstr>
      <vt:lpstr>Final Ranking Formula</vt:lpstr>
      <vt:lpstr>Results &amp; Top Candidates</vt:lpstr>
      <vt:lpstr>Future Improvements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      AI-Powered Candidate Discovery &amp; Ranking System Data &amp; AI Challenge 2026 </dc:title>
  <dc:creator>Dell</dc:creator>
  <cp:lastModifiedBy>Dell</cp:lastModifiedBy>
  <cp:revision>2</cp:revision>
  <dcterms:created xsi:type="dcterms:W3CDTF">2026-06-06T16:55:34Z</dcterms:created>
  <dcterms:modified xsi:type="dcterms:W3CDTF">2026-06-06T17:05:53Z</dcterms:modified>
</cp:coreProperties>
</file>